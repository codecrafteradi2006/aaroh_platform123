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img_0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3840480" cy="1646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194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SMART INDIA HACKATHON 2025 / 2026 — IDEA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AAROH: Hybrid Quantum Machine Learning for Early Disease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An Explainable Hybrid Classical-Quantum Clinical Intelligence Platform for Oncology Triage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2468880" cy="1645920"/>
          </a:xfrm>
          <a:prstGeom prst="roundRect">
            <a:avLst/>
          </a:prstGeom>
          <a:solidFill>
            <a:srgbClr val="162B4D"/>
          </a:solidFill>
          <a:ln>
            <a:solidFill>
              <a:srgbClr val="284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6634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PROBLEM STATEMENT ID</a:t>
            </a:r>
          </a:p>
          <a:p>
            <a:pPr>
              <a:spcBef>
                <a:spcPts val="800"/>
              </a:spcBef>
              <a:defRPr sz="1400" b="1">
                <a:solidFill>
                  <a:srgbClr val="0EA5E9"/>
                </a:solidFill>
              </a:defRPr>
            </a:pPr>
            <a:r>
              <a:t>26139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480560"/>
            <a:ext cx="2468880" cy="1645920"/>
          </a:xfrm>
          <a:prstGeom prst="roundRect">
            <a:avLst/>
          </a:prstGeom>
          <a:solidFill>
            <a:srgbClr val="162B4D"/>
          </a:solidFill>
          <a:ln>
            <a:solidFill>
              <a:srgbClr val="284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46634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THEME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</a:defRPr>
            </a:pPr>
            <a:r>
              <a:t>Quantum and AI in Healthcare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480560"/>
            <a:ext cx="2468880" cy="1645920"/>
          </a:xfrm>
          <a:prstGeom prst="roundRect">
            <a:avLst/>
          </a:prstGeom>
          <a:solidFill>
            <a:srgbClr val="162B4D"/>
          </a:solidFill>
          <a:ln>
            <a:solidFill>
              <a:srgbClr val="284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6634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PS CATEGORY</a:t>
            </a:r>
          </a:p>
          <a:p>
            <a:pPr>
              <a:spcBef>
                <a:spcPts val="800"/>
              </a:spcBef>
              <a:defRPr sz="1400" b="1">
                <a:solidFill>
                  <a:srgbClr val="F59E0B"/>
                </a:solidFill>
              </a:defRPr>
            </a:pPr>
            <a:r>
              <a:t>Software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4480560"/>
            <a:ext cx="2468880" cy="1645920"/>
          </a:xfrm>
          <a:prstGeom prst="roundRect">
            <a:avLst/>
          </a:prstGeom>
          <a:solidFill>
            <a:srgbClr val="162B4D"/>
          </a:solidFill>
          <a:ln>
            <a:solidFill>
              <a:srgbClr val="284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46634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TEAM NAME &amp; ID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t>AAROH  (SIH25XXXX)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AAROH HYBRID CLINICAL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PROPOSED SOLUTION</a:t>
            </a:r>
          </a:p>
        </p:txBody>
      </p:sp>
      <p:pic>
        <p:nvPicPr>
          <p:cNvPr id="5" name="Picture 4" descr="slide_1_img_1_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371600" cy="69716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6539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Team AAROH  |  Problem Statement ID: 26139  |  Hybrid Quantum Machine Learning for Early Disease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2043"/>
                </a:solidFill>
              </a:defRPr>
            </a:pPr>
            <a:r>
              <a:t>Unified Hybrid Classical-Quantum Architecture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293B"/>
                </a:solidFill>
              </a:rPr>
              <a:t>● Clinical Biomedical Ingestion: </a:t>
            </a:r>
            <a:r>
              <a:rPr sz="1100">
                <a:solidFill>
                  <a:srgbClr val="475569"/>
                </a:solidFill>
              </a:rPr>
              <a:t>Standardized ingestion of 30 fine-needle aspiration (FNA) nuclear morphometry features from the Wisconsin Breast Cancer Dataset (WBCD, 569 cases).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293B"/>
                </a:solidFill>
              </a:rPr>
              <a:t>● Intelligent Dimensional Compression: </a:t>
            </a:r>
            <a:r>
              <a:rPr sz="1100">
                <a:solidFill>
                  <a:srgbClr val="475569"/>
                </a:solidFill>
              </a:rPr>
              <a:t>StandardScaler normalization and Principal Component Analysis (PCA) mapping 30 clinical metrics to top 4 principal components preserving ~85% clinical variance.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293B"/>
                </a:solidFill>
              </a:rPr>
              <a:t>● Dual-Engine Classification: </a:t>
            </a:r>
            <a:r>
              <a:rPr sz="1100">
                <a:solidFill>
                  <a:srgbClr val="475569"/>
                </a:solidFill>
              </a:rPr>
              <a:t>Orchestrates Classical XGBoost (0.994 ROC-AUC) alongside a 4-Qubit Variational Quantum Classifier (VQC) with ZZFeatureMap &amp; RealAmplitudes ansatz.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293B"/>
                </a:solidFill>
              </a:rPr>
              <a:t>● Deterministic Agentic Orchestration: </a:t>
            </a:r>
            <a:r>
              <a:rPr sz="1100">
                <a:solidFill>
                  <a:srgbClr val="475569"/>
                </a:solidFill>
              </a:rPr>
              <a:t>4-stage verifiable pipeline narrating real execution telemetry via Server-Sent Events (SSE) — 100% real computation, zero hardcoded values.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293B"/>
                </a:solidFill>
              </a:rPr>
              <a:t>● Local Explainability: </a:t>
            </a:r>
            <a:r>
              <a:rPr sz="1100">
                <a:solidFill>
                  <a:srgbClr val="475569"/>
                </a:solidFill>
              </a:rPr>
              <a:t>Exact TreeSHAP additive feature attribution showing patient-specific morphological risk drivers.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293B"/>
                </a:solidFill>
              </a:rPr>
              <a:t>● Clinical Decision Support (CDSS): </a:t>
            </a:r>
            <a:r>
              <a:rPr sz="1100">
                <a:solidFill>
                  <a:srgbClr val="475569"/>
                </a:solidFill>
              </a:rPr>
              <a:t>Produces an auditable Clinical Consultation Memo with human-in-the-loop oversight and discordant consensus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137160" cy="157276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Dual-Model Consensus Engine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Combines Classical XGBoost &amp; Quantum VQC predictions. Concordant consensus validates high diagnostic confidence; discordant divergence flags borderline lesions for confirmatory immunohistochemistry (IHC) biopsy.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999232"/>
            <a:ext cx="52120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999232"/>
            <a:ext cx="137160" cy="15727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090672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Pure NumPy Zero-Dependency Fallback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To guarantee zero-fail live resilience, AAROH includes a native NumPy matrix simulator that computes Kronecker statevector evolution in &lt;10ms if quantum C++ drivers encounter environment constraints.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718304"/>
            <a:ext cx="52120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718304"/>
            <a:ext cx="137160" cy="15727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809744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Scientifically Honest Benchmarking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Explicitly reports 5-Fold Stratified CV on classical ML vs held-out 80/20 test split on quantum VQC. Validates quantum encoding feasibility at small scale rather than claiming premature supremacy.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END-TO-END PIPELINE &amp; SYSTEM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TECHNICAL APPROACH &amp; ARCHITECTURE</a:t>
            </a:r>
          </a:p>
        </p:txBody>
      </p:sp>
      <p:pic>
        <p:nvPicPr>
          <p:cNvPr id="5" name="Picture 4" descr="slide_1_img_1_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371600" cy="69716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6539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Team AAROH  |  Problem Statement ID: 26139  |  Hybrid Quantum Machine Learning for Early Disease Detection</a:t>
            </a:r>
          </a:p>
        </p:txBody>
      </p:sp>
      <p:pic>
        <p:nvPicPr>
          <p:cNvPr id="8" name="Picture 7" descr="slide_3_img_1_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4088950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1234440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043"/>
                </a:solidFill>
              </a:defRPr>
            </a:pPr>
            <a:r>
              <a:t>Engineered Technology Stack (Implemented &amp; Verified)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212080" y="1691640"/>
          <a:ext cx="62179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560320"/>
              </a:tblGrid>
              <a:tr h="51816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ROLE / SPECIFICATION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Frontend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React 19 + Tailwind CSS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Dark clinical theme, sliders, memo 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Backend Server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Python 3.12 + FastAPI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High-throughput asynchronous REST &amp; SSE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Classical 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XGBoost + 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5-Fold Stratified CV (0.994 ROC-AUC)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Quantum ML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Qiskit 2.5 + Aer 0.17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4-Qubit ZZFeatureMap + RealAmplitudes VQC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Quantum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Pure NumPy Simulator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Matrix statevector replay (&lt;10ms latency)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Explainability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shap 0.52 (TreeExplainer)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Exact local additive Shapley attribution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Streaming Protocol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Server-Sent Events (SSE)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Unidirectional stage telemetry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Clinical Reporting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HTML5 / CSS3 Print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1-Click Pathology Consultation Memo export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DEPLOYMENT READINESS &amp; TECHNICAL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FEASIBILITY AND VIABILITY</a:t>
            </a:r>
          </a:p>
        </p:txBody>
      </p:sp>
      <p:pic>
        <p:nvPicPr>
          <p:cNvPr id="5" name="Picture 4" descr="slide_1_img_1_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371600" cy="69716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6539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Team AAROH  |  Problem Statement ID: 26139  |  Hybrid Quantum Machine Learning for Early Disease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3832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3108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043"/>
                </a:solidFill>
              </a:defRPr>
            </a:pPr>
            <a:r>
              <a:t>Why Feasible Today?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● Simulator-First Deployment: </a:t>
            </a:r>
            <a:r>
              <a:rPr sz="1050">
                <a:solidFill>
                  <a:srgbClr val="475569"/>
                </a:solidFill>
              </a:rPr>
              <a:t>Zero dependence on active cloud quantum queues. Runs on local Qiskit Aer statevector backend with sub-second execution.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● NISQ-Era Ready: </a:t>
            </a:r>
            <a:r>
              <a:rPr sz="1050">
                <a:solidFill>
                  <a:srgbClr val="475569"/>
                </a:solidFill>
              </a:rPr>
              <a:t>Circuit depth is restricted to D=2 on 4 qubits, safely operating below the theoretical Barren Plateau threshold (McClean et al.).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● Hybrid Efficiency: </a:t>
            </a:r>
            <a:r>
              <a:rPr sz="1050">
                <a:solidFill>
                  <a:srgbClr val="475569"/>
                </a:solidFill>
              </a:rPr>
              <a:t>Heavy ingestion, scaling, and feature extraction run on classical CPU; quantum circuits handle non-linear Hilbert space kernel mapping.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● Modular Medical Extensibility: </a:t>
            </a:r>
            <a:r>
              <a:rPr sz="1050">
                <a:solidFill>
                  <a:srgbClr val="475569"/>
                </a:solidFill>
              </a:rPr>
              <a:t>Architecture readily extends from breast FNA biopsies to lung CT radiomics and multi-omic gene profiles.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657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1732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043"/>
                </a:solidFill>
              </a:defRPr>
            </a:pPr>
            <a:r>
              <a:t>Challenges &amp; Mitigations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59E0B"/>
                </a:solidFill>
              </a:rPr>
              <a:t>⚡ High Dimensionality (30 features):
</a:t>
            </a:r>
            <a:r>
              <a:rPr sz="1050">
                <a:solidFill>
                  <a:srgbClr val="1E293B"/>
                </a:solidFill>
              </a:rPr>
              <a:t>➔ Solution: PCA dimensional reduction maps 30 correlated features to 4 orthogonal principal components preserving ~85% variance.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59E0B"/>
                </a:solidFill>
              </a:rPr>
              <a:t>⚡ Limited Qubit Count &amp; Noise:
</a:t>
            </a:r>
            <a:r>
              <a:rPr sz="1050">
                <a:solidFill>
                  <a:srgbClr val="1E293B"/>
                </a:solidFill>
              </a:rPr>
              <a:t>➔ Solution: Angle Encoding (Ry) and 2-repetition RealAmplitudes minimize gate depth and error accumulation.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59E0B"/>
                </a:solidFill>
              </a:rPr>
              <a:t>⚡ Quantum Driver/Environment Glitches:
</a:t>
            </a:r>
            <a:r>
              <a:rPr sz="1050">
                <a:solidFill>
                  <a:srgbClr val="1E293B"/>
                </a:solidFill>
              </a:rPr>
              <a:t>➔ Solution: Zero-dependency pure NumPy linear algebra simulator reproduces exact matrix statevectors in &lt;10ms.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59E0B"/>
                </a:solidFill>
              </a:rPr>
              <a:t>⚡ Clinical Adoption Barriers:
</a:t>
            </a:r>
            <a:r>
              <a:rPr sz="1050">
                <a:solidFill>
                  <a:srgbClr val="1E293B"/>
                </a:solidFill>
              </a:rPr>
              <a:t>➔ Solution: Exact TreeSHAP feature attributions and printable pathology consultation memos provide full physician auditability.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280160"/>
            <a:ext cx="31089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41732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043"/>
                </a:solidFill>
              </a:defRPr>
            </a:pPr>
            <a:r>
              <a:t>Execution Roadmap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E7490"/>
                </a:solidFill>
              </a:rPr>
              <a:t>PHASE 1: Foundation (Completed)
</a:t>
            </a:r>
            <a:r>
              <a:rPr sz="1000">
                <a:solidFill>
                  <a:srgbClr val="475569"/>
                </a:solidFill>
              </a:rPr>
              <a:t>Classical XGBoost (5-Fold CV: 0.994 ROC-AUC), 4-Qubit VQC, SHAP TreeExplainer, and NumPy fallback simulator.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E7490"/>
                </a:solidFill>
              </a:rPr>
              <a:t>PHASE 2: Backend (Completed)
</a:t>
            </a:r>
            <a:r>
              <a:rPr sz="1000">
                <a:solidFill>
                  <a:srgbClr val="475569"/>
                </a:solidFill>
              </a:rPr>
              <a:t>FastAPI deterministic 4-stage agent orchestrator with Server-Sent Events (SSE) live streaming.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E7490"/>
                </a:solidFill>
              </a:rPr>
              <a:t>PHASE 3: UI &amp; Memos (Completed)
</a:t>
            </a:r>
            <a:r>
              <a:rPr sz="1000">
                <a:solidFill>
                  <a:srgbClr val="475569"/>
                </a:solidFill>
              </a:rPr>
              <a:t>React 19 clinical dashboard, dual-model comparison, real-time SHAP waterfall, and printable pathology memo.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E7490"/>
                </a:solidFill>
              </a:rPr>
              <a:t>PHASE 4: Hardware &amp; Hospital Pilot
</a:t>
            </a:r>
            <a:r>
              <a:rPr sz="1000">
                <a:solidFill>
                  <a:srgbClr val="475569"/>
                </a:solidFill>
              </a:rPr>
              <a:t>IBM Quantum Eagle/Falcon processor deployment via Qiskit Runtime; multi-center clinical observational study.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MEASURABLE HEALTHCARE OUTCOMES &amp;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IMPACT AND CLINICAL BENEFITS</a:t>
            </a:r>
          </a:p>
        </p:txBody>
      </p:sp>
      <p:pic>
        <p:nvPicPr>
          <p:cNvPr id="5" name="Picture 4" descr="slide_1_img_1_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371600" cy="69716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6539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Team AAROH  |  Problem Statement ID: 26139  |  Hybrid Quantum Machine Learning for Early Disease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280160"/>
            <a:ext cx="137160" cy="201168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173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Earlier &amp; Accurate Oncology Detection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Dramatically reduces false negatives in breast fine-needle aspiration (FNA) biopsies. Demonstrates 93.4% sensitivity and 0.994 ROC-AUC on baseline clinical data, enabling timely intervention before malignant metastasis.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137160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173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High-Dimensional Non-Linear Mapping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Translates multi-parameter cellular morphology into a 2^4 = 16-dimensional quantum Hilbert space, capturing complex non-linear feature correlations that traditional linear boundaries miss.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137160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7033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Clinical Explainability &amp; Trust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Eliminates black-box diagnosis. TreeSHAP feature attributions calculate the exact quantitative impact of each biomarker (concavity, perimeter, radius) for every patient, building physician confidence.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6616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566160"/>
            <a:ext cx="137160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7033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Dual-Model Consensus &amp; Triage Safety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Concordance analysis verifies whether classical and quantum engines agree. Flags discordant borderline cases to prompt confirmatory core biopsy, minimizing diagnostic blind spots.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10607040" cy="64008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80644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12E81"/>
                </a:solidFill>
              </a:defRPr>
            </a:pPr>
            <a:r>
              <a:t>★ Quantum-Ready Extensibility: Establishes the clinical data pipelining and benchmarking framework today, ready to transition to quantum advantage as multi-omic genomic sequencing and fault-tolerant quantum hardware expand.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SCIENTIFIC FOUNDATIONS &amp; EMPIRICAL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RESEARCH AND REFERENCES</a:t>
            </a:r>
          </a:p>
        </p:txBody>
      </p:sp>
      <p:pic>
        <p:nvPicPr>
          <p:cNvPr id="5" name="Picture 4" descr="slide_1_img_1_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371600" cy="69716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6539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Team AAROH  |  Problem Statement ID: 26139  |  Hybrid Quantum Machine Learning for Early Disease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043"/>
                </a:solidFill>
              </a:defRPr>
            </a:pPr>
            <a:r>
              <a:t>Theoretical Foundations &amp; Literature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E293B"/>
                </a:solidFill>
              </a:rPr>
              <a:t>● Schuld &amp; Petruccione (2018): </a:t>
            </a:r>
            <a:r>
              <a:rPr sz="1050">
                <a:solidFill>
                  <a:srgbClr val="475569"/>
                </a:solidFill>
              </a:rPr>
              <a:t>Supervised Learning with Quantum Computers. Foundational theory for quantum kernels and Hilbert space embeddings.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E293B"/>
                </a:solidFill>
              </a:rPr>
              <a:t>● Havlíček et al. (Nature 2019): </a:t>
            </a:r>
            <a:r>
              <a:rPr sz="1050">
                <a:solidFill>
                  <a:srgbClr val="475569"/>
                </a:solidFill>
              </a:rPr>
              <a:t>Supervised learning with quantum-enhanced feature spaces. Establishes the ZZFeatureMap second-order Pauli expansion used in AAROH.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E293B"/>
                </a:solidFill>
              </a:rPr>
              <a:t>● Cerezo et al. (Nature Reviews 2021): </a:t>
            </a:r>
            <a:r>
              <a:rPr sz="1050">
                <a:solidFill>
                  <a:srgbClr val="475569"/>
                </a:solidFill>
              </a:rPr>
              <a:t>Variational Quantum Algorithms. Methodological basis for parameterized ansatzes (RealAmplitudes) and gradient-free optimization.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E293B"/>
                </a:solidFill>
              </a:rPr>
              <a:t>● McClean et al. (Nature Comm 2018): </a:t>
            </a:r>
            <a:r>
              <a:rPr sz="1050">
                <a:solidFill>
                  <a:srgbClr val="475569"/>
                </a:solidFill>
              </a:rPr>
              <a:t>Barren plateaus in quantum neural network training landscapes. Direct theoretical rationale for restricting AAROH to 4 shallow qubits.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E293B"/>
                </a:solidFill>
              </a:rPr>
              <a:t>● Lundberg &amp; Lee (NeurIPS 2017): </a:t>
            </a:r>
            <a:r>
              <a:rPr sz="1050">
                <a:solidFill>
                  <a:srgbClr val="475569"/>
                </a:solidFill>
              </a:rPr>
              <a:t>A Unified Approach to Interpreting Model Predictions. Algorithmic foundation for exact TreeSHAP local additive feature attributions.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043"/>
                </a:solidFill>
              </a:defRPr>
            </a:pPr>
            <a:r>
              <a:t>Empirical Validation Protocol (Honest Numbers)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Dataset: Wisconsin Breast Cancer Diagnostic (WBCD) — n=569 cases, 30 features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2148840"/>
          <a:ext cx="48463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554480"/>
                <a:gridCol w="1554480"/>
              </a:tblGrid>
              <a:tr h="4343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CLASSICAL XGBOOST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QUANTUM VQC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Validation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E7490"/>
                          </a:solidFill>
                        </a:defRPr>
                      </a:pPr>
                      <a:r>
                        <a:t>5-Fold Stratified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Held-out 80/20 Test 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ROC-AUC 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E7490"/>
                          </a:solidFill>
                        </a:defRPr>
                      </a:pPr>
                      <a:r>
                        <a:t>0.994 ± 0.004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0.748 (seed=42)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E7490"/>
                          </a:solidFill>
                        </a:defRPr>
                      </a:pPr>
                      <a:r>
                        <a:t>96.0% ± 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68.4% (F1: 61.7%)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043"/>
                </a:solidFill>
              </a:defRPr>
            </a:pPr>
            <a:r>
              <a:t>The Evaluation Pitch Baseline:</a:t>
            </a:r>
          </a:p>
          <a:p>
            <a:pPr>
              <a:spcBef>
                <a:spcPts val="400"/>
              </a:spcBef>
              <a:defRPr sz="1050" i="1">
                <a:solidFill>
                  <a:srgbClr val="1E3A8A"/>
                </a:solidFill>
              </a:defRPr>
            </a:pPr>
            <a:r>
              <a:t>"AAROH is a hybrid clinical benchmarking platform that orchestrates classical XGBoost and a trained Variational Quantum Classifier through an agentic pipeline, producing SHAP-explainable predictions and a clinical consultation memo — with the honest result that at 569 rows, we validate quantum encoding viability, not quantum superiority."</a:t>
            </a:r>
          </a:p>
          <a:p>
            <a:pPr>
              <a:spcBef>
                <a:spcPts val="600"/>
              </a:spcBef>
              <a:defRPr sz="950" b="1">
                <a:solidFill>
                  <a:srgbClr val="64748B"/>
                </a:solidFill>
              </a:defRPr>
            </a:pPr>
            <a:r>
              <a:t>Core Stack: Qiskit Aer 0.17 | XGBoost 3.4 | Scikit-Learn 1.9 | SHAP 0.52 | FastAPI | React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